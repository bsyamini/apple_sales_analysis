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10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20028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Sales Report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263271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revenue drivers, product trends, and optimization opportunities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749266"/>
            <a:ext cx="1122164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821061"/>
            <a:ext cx="83498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9481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47745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1.04M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936784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Sales Rows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5061942"/>
            <a:ext cx="301430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Comprehensive transaction data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151233" y="347745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89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250293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51233" y="5061942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categories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464743" y="3477458"/>
            <a:ext cx="3014305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75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7563803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64743" y="5061942"/>
            <a:ext cx="301430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retail presence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10778252" y="3477458"/>
            <a:ext cx="3014424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30K</a:t>
            </a:r>
            <a:endParaRPr lang="en-US" sz="6200" dirty="0"/>
          </a:p>
        </p:txBody>
      </p:sp>
      <p:sp>
        <p:nvSpPr>
          <p:cNvPr id="15" name="Text 13"/>
          <p:cNvSpPr/>
          <p:nvPr/>
        </p:nvSpPr>
        <p:spPr>
          <a:xfrm>
            <a:off x="10877312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Warranty Claims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78252" y="5061942"/>
            <a:ext cx="30144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 and repair data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37724" y="6097191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Zero missing data—complete, analysis-ready dataset spanning sales, products, warranties, categories, and stores.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24124" y="663059"/>
            <a:ext cx="1754624" cy="465058"/>
          </a:xfrm>
          <a:prstGeom prst="roundRect">
            <a:avLst>
              <a:gd name="adj" fmla="val 6177"/>
            </a:avLst>
          </a:prstGeom>
          <a:noFill/>
          <a:ln w="7620">
            <a:solidFill>
              <a:srgbClr val="F98AC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75333" y="742474"/>
            <a:ext cx="1452205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TRENDS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324124" y="1223843"/>
            <a:ext cx="62010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Volatile Growth Pattern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593324" y="2286833"/>
            <a:ext cx="30480" cy="5279588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7" name="Shape 4"/>
          <p:cNvSpPr/>
          <p:nvPr/>
        </p:nvSpPr>
        <p:spPr>
          <a:xfrm>
            <a:off x="6832104" y="2540794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8" name="Shape 5"/>
          <p:cNvSpPr/>
          <p:nvPr/>
        </p:nvSpPr>
        <p:spPr>
          <a:xfrm>
            <a:off x="6324064" y="22868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6424315" y="2344817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790259" y="23691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90259" y="2864644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-21.7%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sharp decline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6832104" y="3980378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13" name="Shape 10"/>
          <p:cNvSpPr/>
          <p:nvPr/>
        </p:nvSpPr>
        <p:spPr>
          <a:xfrm>
            <a:off x="6324064" y="372641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6424315" y="3784402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7790259" y="38086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90259" y="4304228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-16.7%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further drop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6832104" y="5419963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18" name="Shape 15"/>
          <p:cNvSpPr/>
          <p:nvPr/>
        </p:nvSpPr>
        <p:spPr>
          <a:xfrm>
            <a:off x="6324064" y="516600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9" name="Text 16"/>
          <p:cNvSpPr/>
          <p:nvPr/>
        </p:nvSpPr>
        <p:spPr>
          <a:xfrm>
            <a:off x="6424315" y="522398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650" dirty="0"/>
          </a:p>
        </p:txBody>
      </p:sp>
      <p:sp>
        <p:nvSpPr>
          <p:cNvPr id="20" name="Text 17"/>
          <p:cNvSpPr/>
          <p:nvPr/>
        </p:nvSpPr>
        <p:spPr>
          <a:xfrm>
            <a:off x="7790259" y="524827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790259" y="5743813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+13.3%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rebound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6832104" y="6859548"/>
            <a:ext cx="718066" cy="30480"/>
          </a:xfrm>
          <a:prstGeom prst="roundRect">
            <a:avLst>
              <a:gd name="adj" fmla="val 117806"/>
            </a:avLst>
          </a:prstGeom>
          <a:solidFill>
            <a:srgbClr val="5D606B"/>
          </a:solidFill>
          <a:ln/>
        </p:spPr>
      </p:sp>
      <p:sp>
        <p:nvSpPr>
          <p:cNvPr id="23" name="Shape 20"/>
          <p:cNvSpPr/>
          <p:nvPr/>
        </p:nvSpPr>
        <p:spPr>
          <a:xfrm>
            <a:off x="6324064" y="6605588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24" name="Text 21"/>
          <p:cNvSpPr/>
          <p:nvPr/>
        </p:nvSpPr>
        <p:spPr>
          <a:xfrm>
            <a:off x="6424315" y="6663571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650" dirty="0"/>
          </a:p>
        </p:txBody>
      </p:sp>
      <p:sp>
        <p:nvSpPr>
          <p:cNvPr id="25" name="Text 22"/>
          <p:cNvSpPr/>
          <p:nvPr/>
        </p:nvSpPr>
        <p:spPr>
          <a:xfrm>
            <a:off x="7790259" y="668786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2024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790259" y="7183398"/>
            <a:ext cx="60024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-5.9%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mild dip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013579"/>
            <a:ext cx="77925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Global Performance Snapshot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345769"/>
            <a:ext cx="8216265" cy="4601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45491" y="26150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 Dominance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645491" y="3206353"/>
            <a:ext cx="41546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United States leads with $12.8bn in total sales—more than double the next market.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45491" y="4570809"/>
            <a:ext cx="4154686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Australia, China, and Japan cluster around $5bn each, showing balanced international presence.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645491" y="5935266"/>
            <a:ext cx="41546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 stores average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$1,637/month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highest globally.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330172"/>
            <a:ext cx="739330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&amp; Product Leaders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393162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3632478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Category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4128016"/>
            <a:ext cx="18513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Services lead, driven by Apple Music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893373" y="3393162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9132689" y="3632478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Smartphones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32689" y="4128016"/>
            <a:ext cx="18513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1.00M sales, consistent demand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1462623" y="3393162"/>
            <a:ext cx="2329934" cy="2506266"/>
          </a:xfrm>
          <a:prstGeom prst="roundRect">
            <a:avLst>
              <a:gd name="adj" fmla="val 1541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1701939" y="3632478"/>
            <a:ext cx="18513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Accessories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701939" y="4128016"/>
            <a:ext cx="18513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0.70M units, strong attachment rate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14607"/>
            <a:ext cx="2270284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1743789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1686401"/>
            <a:ext cx="169592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WARRANTY INSIGHTS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160151"/>
            <a:ext cx="572916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Repair Status Analysis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37724" y="3462457"/>
            <a:ext cx="353067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Consistent Resolution Rate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7724" y="4053721"/>
            <a:ext cx="821626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25% monthly resolution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all warranty claims in 2024.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37724" y="4652129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Repair status distribution remains balanced: In Progress (7.6K), Pending (7.6K), Completed (7.5K), Rejected (7.4K).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7724" y="5633561"/>
            <a:ext cx="821626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HomePod mini shows highest claim count at 678, followed by MacBook Pro M4 at 381.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473208" y="3223141"/>
            <a:ext cx="4499253" cy="3391853"/>
          </a:xfrm>
          <a:prstGeom prst="roundRect">
            <a:avLst>
              <a:gd name="adj" fmla="val 1059"/>
            </a:avLst>
          </a:prstGeom>
          <a:solidFill>
            <a:srgbClr val="F98AC7"/>
          </a:solidFill>
          <a:ln/>
        </p:spPr>
      </p:sp>
      <p:sp>
        <p:nvSpPr>
          <p:cNvPr id="11" name="Text 8"/>
          <p:cNvSpPr/>
          <p:nvPr/>
        </p:nvSpPr>
        <p:spPr>
          <a:xfrm>
            <a:off x="9712523" y="346245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Concern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2523" y="4053721"/>
            <a:ext cx="40206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Low 25% resolution rate signals opportunity to improve warranty processing efficiency.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3762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High-Risk Products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20390"/>
            <a:ext cx="3059192" cy="2519243"/>
          </a:xfrm>
          <a:prstGeom prst="roundRect">
            <a:avLst>
              <a:gd name="adj" fmla="val 1425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204" y="3150870"/>
            <a:ext cx="2998232" cy="71806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5" name="Text 3"/>
          <p:cNvSpPr/>
          <p:nvPr/>
        </p:nvSpPr>
        <p:spPr>
          <a:xfrm>
            <a:off x="2187773" y="3285530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07519" y="4108252"/>
            <a:ext cx="251960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MacBook Retina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07519" y="4603790"/>
            <a:ext cx="251960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352 claims, $231 price point, mid-age product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4136231" y="3120390"/>
            <a:ext cx="3059311" cy="2519243"/>
          </a:xfrm>
          <a:prstGeom prst="roundRect">
            <a:avLst>
              <a:gd name="adj" fmla="val 1425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6711" y="3150870"/>
            <a:ext cx="2998351" cy="71806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285530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406027" y="4108252"/>
            <a:ext cx="25197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News+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06027" y="4603790"/>
            <a:ext cx="251972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332 claims, aging subscription service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7434858" y="3120390"/>
            <a:ext cx="3059192" cy="2519243"/>
          </a:xfrm>
          <a:prstGeom prst="roundRect">
            <a:avLst>
              <a:gd name="adj" fmla="val 1425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65338" y="3150870"/>
            <a:ext cx="2998232" cy="71806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15" name="Text 13"/>
          <p:cNvSpPr/>
          <p:nvPr/>
        </p:nvSpPr>
        <p:spPr>
          <a:xfrm>
            <a:off x="8784908" y="3285530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04653" y="4108252"/>
            <a:ext cx="251960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HomePod mini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04653" y="4603790"/>
            <a:ext cx="251960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330 claims, quality concerns evident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10733365" y="3120390"/>
            <a:ext cx="3059311" cy="2519243"/>
          </a:xfrm>
          <a:prstGeom prst="roundRect">
            <a:avLst>
              <a:gd name="adj" fmla="val 1425"/>
            </a:avLst>
          </a:prstGeom>
          <a:solidFill>
            <a:srgbClr val="252833"/>
          </a:solidFill>
          <a:ln w="30480">
            <a:solidFill>
              <a:srgbClr val="5D60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63845" y="3150870"/>
            <a:ext cx="2998351" cy="718066"/>
          </a:xfrm>
          <a:prstGeom prst="rect">
            <a:avLst/>
          </a:prstGeom>
          <a:solidFill>
            <a:srgbClr val="444752"/>
          </a:solidFill>
          <a:ln/>
        </p:spPr>
      </p:sp>
      <p:sp>
        <p:nvSpPr>
          <p:cNvPr id="20" name="Text 18"/>
          <p:cNvSpPr/>
          <p:nvPr/>
        </p:nvSpPr>
        <p:spPr>
          <a:xfrm>
            <a:off x="12083534" y="3285530"/>
            <a:ext cx="358973" cy="448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003161" y="4108252"/>
            <a:ext cx="25197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iPhone 13 Pro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003161" y="4603790"/>
            <a:ext cx="2519720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367 claims, older flagship model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837724" y="590883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flagged products share "High Risk" status with low-to-medium pricing—quality improvements needed.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49103"/>
            <a:ext cx="71562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Store Performance Leaders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3531870"/>
            <a:ext cx="1037034" cy="10370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73962" y="3531870"/>
            <a:ext cx="1678067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Orchard Road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73962" y="4731306"/>
            <a:ext cx="16780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$160M sales, 153K quantity, 803 repairs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33" y="3531870"/>
            <a:ext cx="1037034" cy="10370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7472" y="3531870"/>
            <a:ext cx="1678067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Central World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487472" y="4731306"/>
            <a:ext cx="16780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$163M sales, 150K quantity, 762 repairs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43" y="3531870"/>
            <a:ext cx="1037034" cy="10370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00981" y="3531870"/>
            <a:ext cx="167806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The Dubai Mall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800981" y="4379357"/>
            <a:ext cx="16780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$163M sales, 151K quantity, 849 repairs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52" y="3531870"/>
            <a:ext cx="1037153" cy="10371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114609" y="3531870"/>
            <a:ext cx="1678067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Apple Champs-Élysées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2114609" y="4731306"/>
            <a:ext cx="16780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$163M sales, 151K quantity, 782 repairs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267" y="676275"/>
            <a:ext cx="2159079" cy="441246"/>
          </a:xfrm>
          <a:prstGeom prst="roundRect">
            <a:avLst>
              <a:gd name="adj" fmla="val 6250"/>
            </a:avLst>
          </a:prstGeom>
          <a:noFill/>
          <a:ln w="7620">
            <a:solidFill>
              <a:srgbClr val="F98AC7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9762" y="804982"/>
            <a:ext cx="183833" cy="183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510" y="752832"/>
            <a:ext cx="1592342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04267" y="1205746"/>
            <a:ext cx="5407104" cy="67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Strategic Action Plan</a:t>
            </a:r>
            <a:endParaRPr lang="en-US" sz="4250" dirty="0"/>
          </a:p>
        </p:txBody>
      </p:sp>
      <p:sp>
        <p:nvSpPr>
          <p:cNvPr id="6" name="Shape 3"/>
          <p:cNvSpPr/>
          <p:nvPr/>
        </p:nvSpPr>
        <p:spPr>
          <a:xfrm>
            <a:off x="804267" y="2212419"/>
            <a:ext cx="6400681" cy="2560201"/>
          </a:xfrm>
          <a:prstGeom prst="roundRect">
            <a:avLst>
              <a:gd name="adj" fmla="val 1346"/>
            </a:avLst>
          </a:prstGeom>
          <a:solidFill>
            <a:srgbClr val="44475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058" y="2442210"/>
            <a:ext cx="689372" cy="68937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3605" y="2631758"/>
            <a:ext cx="310158" cy="3101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4058" y="3352086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Reduce Repairs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034058" y="3822263"/>
            <a:ext cx="5941100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product quality to lower high claim rates on aging products</a:t>
            </a:r>
            <a:endParaRPr lang="en-US" sz="1800" dirty="0"/>
          </a:p>
        </p:txBody>
      </p:sp>
      <p:sp>
        <p:nvSpPr>
          <p:cNvPr id="11" name="Shape 6"/>
          <p:cNvSpPr/>
          <p:nvPr/>
        </p:nvSpPr>
        <p:spPr>
          <a:xfrm>
            <a:off x="7425452" y="2212419"/>
            <a:ext cx="6400681" cy="2560201"/>
          </a:xfrm>
          <a:prstGeom prst="roundRect">
            <a:avLst>
              <a:gd name="adj" fmla="val 1346"/>
            </a:avLst>
          </a:prstGeom>
          <a:solidFill>
            <a:srgbClr val="444752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5242" y="2442210"/>
            <a:ext cx="689372" cy="689372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4790" y="2631758"/>
            <a:ext cx="310158" cy="31015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55242" y="3352086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Launches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655242" y="3822263"/>
            <a:ext cx="5941100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Introduce new products to replace aging inventory and drive growth</a:t>
            </a:r>
            <a:endParaRPr lang="en-US" sz="1800" dirty="0"/>
          </a:p>
        </p:txBody>
      </p:sp>
      <p:sp>
        <p:nvSpPr>
          <p:cNvPr id="16" name="Shape 9"/>
          <p:cNvSpPr/>
          <p:nvPr/>
        </p:nvSpPr>
        <p:spPr>
          <a:xfrm>
            <a:off x="804267" y="4993124"/>
            <a:ext cx="6400681" cy="2560201"/>
          </a:xfrm>
          <a:prstGeom prst="roundRect">
            <a:avLst>
              <a:gd name="adj" fmla="val 1346"/>
            </a:avLst>
          </a:prstGeom>
          <a:solidFill>
            <a:srgbClr val="444752"/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4058" y="5222915"/>
            <a:ext cx="689372" cy="689372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3605" y="5412462"/>
            <a:ext cx="310158" cy="31015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34058" y="6132790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Pricing</a:t>
            </a:r>
            <a:endParaRPr lang="en-US" sz="2100" dirty="0"/>
          </a:p>
        </p:txBody>
      </p:sp>
      <p:sp>
        <p:nvSpPr>
          <p:cNvPr id="20" name="Text 11"/>
          <p:cNvSpPr/>
          <p:nvPr/>
        </p:nvSpPr>
        <p:spPr>
          <a:xfrm>
            <a:off x="1034058" y="6602968"/>
            <a:ext cx="5941100" cy="7205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 old products to clear warehouse space for new launches</a:t>
            </a:r>
            <a:endParaRPr lang="en-US" sz="1800" dirty="0"/>
          </a:p>
        </p:txBody>
      </p:sp>
      <p:sp>
        <p:nvSpPr>
          <p:cNvPr id="21" name="Shape 12"/>
          <p:cNvSpPr/>
          <p:nvPr/>
        </p:nvSpPr>
        <p:spPr>
          <a:xfrm>
            <a:off x="7425452" y="4993124"/>
            <a:ext cx="6400681" cy="2560201"/>
          </a:xfrm>
          <a:prstGeom prst="roundRect">
            <a:avLst>
              <a:gd name="adj" fmla="val 1346"/>
            </a:avLst>
          </a:prstGeom>
          <a:solidFill>
            <a:srgbClr val="444752"/>
          </a:solidFill>
          <a:ln/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5242" y="5222915"/>
            <a:ext cx="689372" cy="689372"/>
          </a:xfrm>
          <a:prstGeom prst="rect">
            <a:avLst/>
          </a:prstGeom>
        </p:spPr>
      </p:pic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44790" y="5412462"/>
            <a:ext cx="310158" cy="31015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7655242" y="6132790"/>
            <a:ext cx="270355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 Markets</a:t>
            </a:r>
            <a:endParaRPr lang="en-US" sz="2100" dirty="0"/>
          </a:p>
        </p:txBody>
      </p:sp>
      <p:sp>
        <p:nvSpPr>
          <p:cNvPr id="25" name="Text 14"/>
          <p:cNvSpPr/>
          <p:nvPr/>
        </p:nvSpPr>
        <p:spPr>
          <a:xfrm>
            <a:off x="7655242" y="6602968"/>
            <a:ext cx="5941100" cy="360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Increase marketing in low-sales cities to expand reach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05550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1184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1615559" y="5200769"/>
            <a:ext cx="3341013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volatility requires stabilization strategy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640020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 declining trends with product innovation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55776" y="51184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6033611" y="5200769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Warranty resolution needs improvement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3611" y="604825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25% rate too low—streamline processes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73828" y="5118497"/>
            <a:ext cx="538520" cy="538520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10451663" y="5200769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portfolio refresh critical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51663" y="604825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Many aging, high-risk items need replacement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2026-02-01T18:00:06Z</dcterms:created>
  <dcterms:modified xsi:type="dcterms:W3CDTF">2026-02-01T18:00:06Z</dcterms:modified>
</cp:coreProperties>
</file>